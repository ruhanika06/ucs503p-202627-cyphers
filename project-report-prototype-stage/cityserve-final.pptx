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Roboto Bold" panose="02000000000000000000"/>
      <p:bold r:id="rId16"/>
    </p:embeddedFont>
    <p:embeddedFont>
      <p:font typeface="Roboto" panose="02000000000000000000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65.png"/><Relationship Id="rId2" Type="http://schemas.openxmlformats.org/officeDocument/2006/relationships/image" Target="../media/image47.png"/><Relationship Id="rId19" Type="http://schemas.openxmlformats.org/officeDocument/2006/relationships/image" Target="../media/image64.png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0.png"/><Relationship Id="rId14" Type="http://schemas.openxmlformats.org/officeDocument/2006/relationships/image" Target="../media/image79.png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04.png"/><Relationship Id="rId23" Type="http://schemas.openxmlformats.org/officeDocument/2006/relationships/image" Target="../media/image103.png"/><Relationship Id="rId22" Type="http://schemas.openxmlformats.org/officeDocument/2006/relationships/image" Target="../media/image102.png"/><Relationship Id="rId21" Type="http://schemas.openxmlformats.org/officeDocument/2006/relationships/image" Target="../media/image101.png"/><Relationship Id="rId20" Type="http://schemas.openxmlformats.org/officeDocument/2006/relationships/image" Target="../media/image100.png"/><Relationship Id="rId2" Type="http://schemas.openxmlformats.org/officeDocument/2006/relationships/image" Target="../media/image82.png"/><Relationship Id="rId19" Type="http://schemas.openxmlformats.org/officeDocument/2006/relationships/image" Target="../media/image99.png"/><Relationship Id="rId18" Type="http://schemas.openxmlformats.org/officeDocument/2006/relationships/image" Target="../media/image98.png"/><Relationship Id="rId17" Type="http://schemas.openxmlformats.org/officeDocument/2006/relationships/image" Target="../media/image97.png"/><Relationship Id="rId16" Type="http://schemas.openxmlformats.org/officeDocument/2006/relationships/image" Target="../media/image96.png"/><Relationship Id="rId15" Type="http://schemas.openxmlformats.org/officeDocument/2006/relationships/image" Target="../media/image95.png"/><Relationship Id="rId14" Type="http://schemas.openxmlformats.org/officeDocument/2006/relationships/image" Target="../media/image94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7.png"/><Relationship Id="rId12" Type="http://schemas.openxmlformats.org/officeDocument/2006/relationships/image" Target="../media/image116.png"/><Relationship Id="rId11" Type="http://schemas.openxmlformats.org/officeDocument/2006/relationships/image" Target="../media/image115.png"/><Relationship Id="rId10" Type="http://schemas.openxmlformats.org/officeDocument/2006/relationships/image" Target="../media/image114.png"/><Relationship Id="rId1" Type="http://schemas.openxmlformats.org/officeDocument/2006/relationships/image" Target="../media/image10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png"/><Relationship Id="rId8" Type="http://schemas.openxmlformats.org/officeDocument/2006/relationships/image" Target="../media/image125.png"/><Relationship Id="rId7" Type="http://schemas.openxmlformats.org/officeDocument/2006/relationships/image" Target="../media/image124.png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3" Type="http://schemas.openxmlformats.org/officeDocument/2006/relationships/image" Target="../media/image120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38.png"/><Relationship Id="rId20" Type="http://schemas.openxmlformats.org/officeDocument/2006/relationships/image" Target="../media/image137.png"/><Relationship Id="rId2" Type="http://schemas.openxmlformats.org/officeDocument/2006/relationships/image" Target="../media/image119.png"/><Relationship Id="rId19" Type="http://schemas.openxmlformats.org/officeDocument/2006/relationships/image" Target="../media/image136.png"/><Relationship Id="rId18" Type="http://schemas.openxmlformats.org/officeDocument/2006/relationships/image" Target="../media/image135.png"/><Relationship Id="rId17" Type="http://schemas.openxmlformats.org/officeDocument/2006/relationships/image" Target="../media/image134.png"/><Relationship Id="rId16" Type="http://schemas.openxmlformats.org/officeDocument/2006/relationships/image" Target="../media/image133.png"/><Relationship Id="rId15" Type="http://schemas.openxmlformats.org/officeDocument/2006/relationships/image" Target="../media/image132.png"/><Relationship Id="rId14" Type="http://schemas.openxmlformats.org/officeDocument/2006/relationships/image" Target="../media/image131.png"/><Relationship Id="rId13" Type="http://schemas.openxmlformats.org/officeDocument/2006/relationships/image" Target="../media/image130.png"/><Relationship Id="rId12" Type="http://schemas.openxmlformats.org/officeDocument/2006/relationships/image" Target="../media/image129.png"/><Relationship Id="rId11" Type="http://schemas.openxmlformats.org/officeDocument/2006/relationships/image" Target="../media/image128.png"/><Relationship Id="rId10" Type="http://schemas.openxmlformats.org/officeDocument/2006/relationships/image" Target="../media/image127.png"/><Relationship Id="rId1" Type="http://schemas.openxmlformats.org/officeDocument/2006/relationships/image" Target="../media/image11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82450" cy="10287000"/>
          </a:xfrm>
          <a:custGeom>
            <a:avLst/>
            <a:gdLst/>
            <a:ahLst/>
            <a:cxnLst/>
            <a:rect l="l" t="t" r="r" b="b"/>
            <a:pathLst>
              <a:path w="11982450" h="10287000">
                <a:moveTo>
                  <a:pt x="0" y="0"/>
                </a:moveTo>
                <a:lnTo>
                  <a:pt x="11982450" y="0"/>
                </a:lnTo>
                <a:lnTo>
                  <a:pt x="11982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67550"/>
            <a:ext cx="16554450" cy="2581275"/>
          </a:xfrm>
          <a:custGeom>
            <a:avLst/>
            <a:gdLst/>
            <a:ahLst/>
            <a:cxnLst/>
            <a:rect l="l" t="t" r="r" b="b"/>
            <a:pathLst>
              <a:path w="16554450" h="2581275">
                <a:moveTo>
                  <a:pt x="0" y="0"/>
                </a:moveTo>
                <a:lnTo>
                  <a:pt x="16554450" y="0"/>
                </a:lnTo>
                <a:lnTo>
                  <a:pt x="16554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59536" y="1523429"/>
            <a:ext cx="8394192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0"/>
              </a:lnSpc>
            </a:pPr>
            <a:r>
              <a:rPr lang="en-US" sz="14425" b="1" spc="-288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CityServe</a:t>
            </a:r>
            <a:endParaRPr lang="en-US" sz="14425" b="1" spc="-288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66775" y="3638550"/>
            <a:ext cx="1752600" cy="438150"/>
          </a:xfrm>
          <a:custGeom>
            <a:avLst/>
            <a:gdLst/>
            <a:ahLst/>
            <a:cxnLst/>
            <a:rect l="l" t="t" r="r" b="b"/>
            <a:pathLst>
              <a:path w="1752600" h="438150">
                <a:moveTo>
                  <a:pt x="0" y="0"/>
                </a:moveTo>
                <a:lnTo>
                  <a:pt x="1752600" y="0"/>
                </a:lnTo>
                <a:lnTo>
                  <a:pt x="1752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96112" y="4347449"/>
            <a:ext cx="6309360" cy="1421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4355">
                <a:solidFill>
                  <a:srgbClr val="40827A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Connecting Customers with Local Services</a:t>
            </a:r>
            <a:endParaRPr lang="en-US" sz="4355">
              <a:solidFill>
                <a:srgbClr val="40827A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6112" y="6474383"/>
            <a:ext cx="2450592" cy="46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Team Cyphers</a:t>
            </a:r>
            <a:endParaRPr lang="en-US" sz="279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91700" y="0"/>
            <a:ext cx="8496300" cy="10287000"/>
          </a:xfrm>
          <a:custGeom>
            <a:avLst/>
            <a:gdLst/>
            <a:ahLst/>
            <a:cxnLst/>
            <a:rect l="l" t="t" r="r" b="b"/>
            <a:pathLst>
              <a:path w="8496300" h="10287000">
                <a:moveTo>
                  <a:pt x="0" y="0"/>
                </a:moveTo>
                <a:lnTo>
                  <a:pt x="8496300" y="0"/>
                </a:lnTo>
                <a:lnTo>
                  <a:pt x="8496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91700" y="0"/>
            <a:ext cx="3924300" cy="10287000"/>
          </a:xfrm>
          <a:custGeom>
            <a:avLst/>
            <a:gdLst/>
            <a:ahLst/>
            <a:cxnLst/>
            <a:rect l="l" t="t" r="r" b="b"/>
            <a:pathLst>
              <a:path w="3924300" h="10287000">
                <a:moveTo>
                  <a:pt x="0" y="0"/>
                </a:moveTo>
                <a:lnTo>
                  <a:pt x="3924300" y="0"/>
                </a:lnTo>
                <a:lnTo>
                  <a:pt x="3924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6928" y="554926"/>
            <a:ext cx="861364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5"/>
              </a:lnSpc>
            </a:pPr>
            <a:r>
              <a:rPr lang="en-US" sz="755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Problem Statement</a:t>
            </a:r>
            <a:endParaRPr lang="en-US" sz="755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2862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6928" y="2115552"/>
            <a:ext cx="7754112" cy="92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Key challenges CityServe addresses in connecting residents with local services.</a:t>
            </a:r>
            <a:endParaRPr lang="en-US" sz="279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428625" y="3209925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952625" y="3429000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651760" y="3449955"/>
            <a:ext cx="3655695" cy="46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b="1">
                <a:solidFill>
                  <a:srgbClr val="58998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Hard to discover</a:t>
            </a:r>
            <a:endParaRPr lang="en-US" sz="2795" b="1">
              <a:solidFill>
                <a:srgbClr val="58998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51760" y="3972894"/>
            <a:ext cx="5907024" cy="32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98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Finding reliable local businesses is time-consuming.</a:t>
            </a:r>
            <a:endParaRPr lang="en-US" sz="198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428625" y="449580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52625" y="4495800"/>
            <a:ext cx="447675" cy="1295400"/>
          </a:xfrm>
          <a:custGeom>
            <a:avLst/>
            <a:gdLst/>
            <a:ahLst/>
            <a:cxnLst/>
            <a:rect l="l" t="t" r="r" b="b"/>
            <a:pathLst>
              <a:path w="447675" h="1295400">
                <a:moveTo>
                  <a:pt x="0" y="0"/>
                </a:moveTo>
                <a:lnTo>
                  <a:pt x="447675" y="0"/>
                </a:lnTo>
                <a:lnTo>
                  <a:pt x="447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651760" y="4643297"/>
            <a:ext cx="3877056" cy="46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b="1">
                <a:solidFill>
                  <a:srgbClr val="58998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Information is scattered</a:t>
            </a:r>
            <a:endParaRPr lang="en-US" sz="2795" b="1">
              <a:solidFill>
                <a:srgbClr val="58998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51760" y="5157336"/>
            <a:ext cx="6711696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9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Services and offerings are fragmented across platforms.</a:t>
            </a:r>
            <a:endParaRPr lang="en-US" sz="209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428625" y="578167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952625" y="5781675"/>
            <a:ext cx="447675" cy="1076325"/>
          </a:xfrm>
          <a:custGeom>
            <a:avLst/>
            <a:gdLst/>
            <a:ahLst/>
            <a:cxnLst/>
            <a:rect l="l" t="t" r="r" b="b"/>
            <a:pathLst>
              <a:path w="447675" h="107632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651760" y="5857163"/>
            <a:ext cx="3877056" cy="46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b="1">
                <a:solidFill>
                  <a:srgbClr val="58998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Limited digital presence</a:t>
            </a:r>
            <a:endParaRPr lang="en-US" sz="2795" b="1">
              <a:solidFill>
                <a:srgbClr val="58998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651760" y="6371427"/>
            <a:ext cx="4828032" cy="34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12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Many local vendors lack visibility online.</a:t>
            </a:r>
            <a:endParaRPr lang="en-US" sz="212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428625" y="6858000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952625" y="6858000"/>
            <a:ext cx="447675" cy="1285875"/>
          </a:xfrm>
          <a:custGeom>
            <a:avLst/>
            <a:gdLst/>
            <a:ahLst/>
            <a:cxnLst/>
            <a:rect l="l" t="t" r="r" b="b"/>
            <a:pathLst>
              <a:path w="447675" h="12858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651760" y="7071029"/>
            <a:ext cx="3511296" cy="46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b="1">
                <a:solidFill>
                  <a:srgbClr val="58998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Complex interactions</a:t>
            </a:r>
            <a:endParaRPr lang="en-US" sz="2795" b="1">
              <a:solidFill>
                <a:srgbClr val="58998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651760" y="7585293"/>
            <a:ext cx="6784848" cy="34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12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Ordering and coordinating with vendors is cumbersome.</a:t>
            </a:r>
            <a:endParaRPr lang="en-US" sz="212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428625" y="814387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952625" y="8143875"/>
            <a:ext cx="447675" cy="1285875"/>
          </a:xfrm>
          <a:custGeom>
            <a:avLst/>
            <a:gdLst/>
            <a:ahLst/>
            <a:cxnLst/>
            <a:rect l="l" t="t" r="r" b="b"/>
            <a:pathLst>
              <a:path w="447675" h="1285875">
                <a:moveTo>
                  <a:pt x="0" y="0"/>
                </a:moveTo>
                <a:lnTo>
                  <a:pt x="447675" y="0"/>
                </a:lnTo>
                <a:lnTo>
                  <a:pt x="44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651760" y="8284895"/>
            <a:ext cx="3218688" cy="46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b="1">
                <a:solidFill>
                  <a:srgbClr val="58998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No unified platform</a:t>
            </a:r>
            <a:endParaRPr lang="en-US" sz="2795" b="1">
              <a:solidFill>
                <a:srgbClr val="58998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651760" y="8798934"/>
            <a:ext cx="6291072" cy="34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09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Residents lack a single place to access and transact.</a:t>
            </a:r>
            <a:endParaRPr lang="en-US" sz="209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7055" y="574675"/>
            <a:ext cx="10742930" cy="1139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85"/>
              </a:lnSpc>
            </a:pPr>
            <a:r>
              <a:rPr lang="en-US" sz="740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Proposed Solution</a:t>
            </a:r>
            <a:endParaRPr lang="en-US" sz="740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2862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6928" y="2044390"/>
            <a:ext cx="8211312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62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unified ecosystem that brings customers, vendors, and administration together on one platform.</a:t>
            </a:r>
            <a:endParaRPr lang="en-US" sz="262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28625" y="3209925"/>
            <a:ext cx="3495675" cy="4076700"/>
          </a:xfrm>
          <a:custGeom>
            <a:avLst/>
            <a:gdLst/>
            <a:ahLst/>
            <a:cxnLst/>
            <a:rect l="l" t="t" r="r" b="b"/>
            <a:pathLst>
              <a:path w="3495675" h="4076700">
                <a:moveTo>
                  <a:pt x="0" y="0"/>
                </a:moveTo>
                <a:lnTo>
                  <a:pt x="3495675" y="0"/>
                </a:lnTo>
                <a:lnTo>
                  <a:pt x="34956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7700" y="3429000"/>
            <a:ext cx="3057525" cy="3000375"/>
          </a:xfrm>
          <a:custGeom>
            <a:avLst/>
            <a:gdLst/>
            <a:ahLst/>
            <a:cxnLst/>
            <a:rect l="l" t="t" r="r" b="b"/>
            <a:pathLst>
              <a:path w="3057525" h="3000375">
                <a:moveTo>
                  <a:pt x="0" y="0"/>
                </a:moveTo>
                <a:lnTo>
                  <a:pt x="3057525" y="0"/>
                </a:lnTo>
                <a:lnTo>
                  <a:pt x="30575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34770" y="6517005"/>
            <a:ext cx="2228850" cy="35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CUSTOMERS</a:t>
            </a:r>
            <a:endParaRPr lang="en-US" sz="233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572000" y="3209925"/>
            <a:ext cx="3486150" cy="3648075"/>
          </a:xfrm>
          <a:custGeom>
            <a:avLst/>
            <a:gdLst/>
            <a:ahLst/>
            <a:cxnLst/>
            <a:rect l="l" t="t" r="r" b="b"/>
            <a:pathLst>
              <a:path w="3486150" h="3648075">
                <a:moveTo>
                  <a:pt x="0" y="0"/>
                </a:moveTo>
                <a:lnTo>
                  <a:pt x="3486150" y="0"/>
                </a:lnTo>
                <a:lnTo>
                  <a:pt x="34861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12080" y="4568761"/>
            <a:ext cx="2395728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435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City</a:t>
            </a:r>
            <a:r>
              <a:rPr lang="en-US" sz="4355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Serve</a:t>
            </a:r>
            <a:endParaRPr lang="en-US" sz="4355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614670" y="5374640"/>
            <a:ext cx="2082800" cy="364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</a:pPr>
            <a:r>
              <a:rPr lang="en-US" sz="237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PLATFORM</a:t>
            </a:r>
            <a:endParaRPr lang="en-US" sz="237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3695700" y="4924425"/>
            <a:ext cx="1095375" cy="438150"/>
          </a:xfrm>
          <a:custGeom>
            <a:avLst/>
            <a:gdLst/>
            <a:ahLst/>
            <a:cxnLst/>
            <a:rect l="l" t="t" r="r" b="b"/>
            <a:pathLst>
              <a:path w="1095375" h="438150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048625" y="4924425"/>
            <a:ext cx="885825" cy="438150"/>
          </a:xfrm>
          <a:custGeom>
            <a:avLst/>
            <a:gdLst/>
            <a:ahLst/>
            <a:cxnLst/>
            <a:rect l="l" t="t" r="r" b="b"/>
            <a:pathLst>
              <a:path w="885825" h="438150">
                <a:moveTo>
                  <a:pt x="0" y="0"/>
                </a:moveTo>
                <a:lnTo>
                  <a:pt x="885825" y="0"/>
                </a:lnTo>
                <a:lnTo>
                  <a:pt x="885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096000" y="6638925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695700" y="7496175"/>
            <a:ext cx="5448300" cy="2152650"/>
          </a:xfrm>
          <a:custGeom>
            <a:avLst/>
            <a:gdLst/>
            <a:ahLst/>
            <a:cxnLst/>
            <a:rect l="l" t="t" r="r" b="b"/>
            <a:pathLst>
              <a:path w="5448300" h="2152650">
                <a:moveTo>
                  <a:pt x="0" y="0"/>
                </a:moveTo>
                <a:lnTo>
                  <a:pt x="5448300" y="0"/>
                </a:lnTo>
                <a:lnTo>
                  <a:pt x="5448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914775" y="7496175"/>
            <a:ext cx="2181225" cy="2152650"/>
          </a:xfrm>
          <a:custGeom>
            <a:avLst/>
            <a:gdLst/>
            <a:ahLst/>
            <a:cxnLst/>
            <a:rect l="l" t="t" r="r" b="b"/>
            <a:pathLst>
              <a:path w="2181225" h="2152650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217920" y="8133588"/>
            <a:ext cx="111556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72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ADMIN</a:t>
            </a:r>
            <a:endParaRPr lang="en-US" sz="272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17920" y="8694801"/>
            <a:ext cx="25786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9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Oversight and analytics</a:t>
            </a:r>
            <a:endParaRPr lang="en-US" sz="19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705850" y="3209925"/>
            <a:ext cx="3705225" cy="4076700"/>
          </a:xfrm>
          <a:custGeom>
            <a:avLst/>
            <a:gdLst/>
            <a:ahLst/>
            <a:cxnLst/>
            <a:rect l="l" t="t" r="r" b="b"/>
            <a:pathLst>
              <a:path w="3705225" h="4076700">
                <a:moveTo>
                  <a:pt x="0" y="0"/>
                </a:moveTo>
                <a:lnTo>
                  <a:pt x="3705225" y="0"/>
                </a:lnTo>
                <a:lnTo>
                  <a:pt x="37052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924925" y="3429000"/>
            <a:ext cx="3267075" cy="3000375"/>
          </a:xfrm>
          <a:custGeom>
            <a:avLst/>
            <a:gdLst/>
            <a:ahLst/>
            <a:cxnLst/>
            <a:rect l="l" t="t" r="r" b="b"/>
            <a:pathLst>
              <a:path w="3267075" h="3000375">
                <a:moveTo>
                  <a:pt x="0" y="0"/>
                </a:moveTo>
                <a:lnTo>
                  <a:pt x="3267075" y="0"/>
                </a:lnTo>
                <a:lnTo>
                  <a:pt x="3267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930384" y="6517005"/>
            <a:ext cx="135331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VENDORS</a:t>
            </a:r>
            <a:endParaRPr lang="en-US" sz="233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094208" y="1775460"/>
            <a:ext cx="309067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620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Centralized platform</a:t>
            </a:r>
            <a:endParaRPr lang="en-US" sz="2620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094208" y="2198696"/>
            <a:ext cx="4096512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3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Connects customers and vendors in one place.</a:t>
            </a:r>
            <a:endParaRPr lang="en-US" sz="223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3058775" y="300037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094335" y="3482975"/>
            <a:ext cx="3166110" cy="403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620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Unified browsing</a:t>
            </a:r>
            <a:endParaRPr lang="en-US" sz="2620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094208" y="3933562"/>
            <a:ext cx="4096512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12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Customers discover and compare products and services easily.</a:t>
            </a:r>
            <a:endParaRPr lang="en-US" sz="212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3058775" y="471487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094208" y="5180457"/>
            <a:ext cx="321868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620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Streamlined requests</a:t>
            </a:r>
            <a:endParaRPr lang="en-US" sz="2620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094208" y="5603693"/>
            <a:ext cx="4169664" cy="78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3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Place orders and service requests quickly and securely.</a:t>
            </a:r>
            <a:endParaRPr lang="en-US" sz="223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13058775" y="642937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094208" y="6888099"/>
            <a:ext cx="316382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620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 management</a:t>
            </a:r>
            <a:endParaRPr lang="en-US" sz="2620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094208" y="7329485"/>
            <a:ext cx="3749040" cy="75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216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Approve, manage, and support vendors with clear workflows.</a:t>
            </a:r>
            <a:endParaRPr lang="en-US" sz="216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13058775" y="8143875"/>
            <a:ext cx="4581525" cy="428625"/>
          </a:xfrm>
          <a:custGeom>
            <a:avLst/>
            <a:gdLst/>
            <a:ahLst/>
            <a:cxnLst/>
            <a:rect l="l" t="t" r="r" b="b"/>
            <a:pathLst>
              <a:path w="4581525" h="428625">
                <a:moveTo>
                  <a:pt x="0" y="0"/>
                </a:moveTo>
                <a:lnTo>
                  <a:pt x="4581525" y="0"/>
                </a:lnTo>
                <a:lnTo>
                  <a:pt x="4581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3094208" y="8647938"/>
            <a:ext cx="245059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585" b="1">
                <a:solidFill>
                  <a:srgbClr val="58928B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Admin oversight</a:t>
            </a:r>
            <a:endParaRPr lang="en-US" sz="2585" b="1">
              <a:solidFill>
                <a:srgbClr val="58928B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094208" y="9196420"/>
            <a:ext cx="3913632" cy="5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9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Monitor performance and make data-driven decisions.</a:t>
            </a:r>
            <a:endParaRPr lang="en-US" sz="159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6928" y="710837"/>
            <a:ext cx="10716768" cy="95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 spc="-7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Key Features &amp; User Roles</a:t>
            </a:r>
            <a:endParaRPr lang="en-US" sz="7195" b="1" spc="-7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2862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2143125"/>
            <a:ext cx="5667375" cy="7715250"/>
          </a:xfrm>
          <a:custGeom>
            <a:avLst/>
            <a:gdLst/>
            <a:ahLst/>
            <a:cxnLst/>
            <a:rect l="l" t="t" r="r" b="b"/>
            <a:pathLst>
              <a:path w="5667375" h="7715250">
                <a:moveTo>
                  <a:pt x="0" y="0"/>
                </a:moveTo>
                <a:lnTo>
                  <a:pt x="5667375" y="0"/>
                </a:lnTo>
                <a:lnTo>
                  <a:pt x="566737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33550" y="2352675"/>
            <a:ext cx="3276600" cy="3219450"/>
          </a:xfrm>
          <a:custGeom>
            <a:avLst/>
            <a:gdLst/>
            <a:ahLst/>
            <a:cxnLst/>
            <a:rect l="l" t="t" r="r" b="b"/>
            <a:pathLst>
              <a:path w="3276600" h="3219450">
                <a:moveTo>
                  <a:pt x="0" y="0"/>
                </a:moveTo>
                <a:lnTo>
                  <a:pt x="3276600" y="0"/>
                </a:lnTo>
                <a:lnTo>
                  <a:pt x="3276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22576" y="5861015"/>
            <a:ext cx="2139696" cy="43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3185" b="1" spc="-31">
                <a:solidFill>
                  <a:srgbClr val="58999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CUSTOMER</a:t>
            </a:r>
            <a:endParaRPr lang="en-US" sz="3185" b="1" spc="-31">
              <a:solidFill>
                <a:srgbClr val="58999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66775" y="6429375"/>
            <a:ext cx="5019675" cy="219075"/>
          </a:xfrm>
          <a:custGeom>
            <a:avLst/>
            <a:gdLst/>
            <a:ahLst/>
            <a:cxnLst/>
            <a:rect l="l" t="t" r="r" b="b"/>
            <a:pathLst>
              <a:path w="5019675" h="219075">
                <a:moveTo>
                  <a:pt x="0" y="0"/>
                </a:moveTo>
                <a:lnTo>
                  <a:pt x="5019675" y="0"/>
                </a:lnTo>
                <a:lnTo>
                  <a:pt x="501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305550" y="2143125"/>
            <a:ext cx="5676900" cy="7715250"/>
          </a:xfrm>
          <a:custGeom>
            <a:avLst/>
            <a:gdLst/>
            <a:ahLst/>
            <a:cxnLst/>
            <a:rect l="l" t="t" r="r" b="b"/>
            <a:pathLst>
              <a:path w="5676900" h="7715250">
                <a:moveTo>
                  <a:pt x="0" y="0"/>
                </a:moveTo>
                <a:lnTo>
                  <a:pt x="5676900" y="0"/>
                </a:lnTo>
                <a:lnTo>
                  <a:pt x="5676900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400925" y="2352675"/>
            <a:ext cx="3267075" cy="3219450"/>
          </a:xfrm>
          <a:custGeom>
            <a:avLst/>
            <a:gdLst/>
            <a:ahLst/>
            <a:cxnLst/>
            <a:rect l="l" t="t" r="r" b="b"/>
            <a:pathLst>
              <a:path w="3267075" h="3219450">
                <a:moveTo>
                  <a:pt x="0" y="0"/>
                </a:moveTo>
                <a:lnTo>
                  <a:pt x="3267075" y="0"/>
                </a:lnTo>
                <a:lnTo>
                  <a:pt x="32670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21040" y="5851039"/>
            <a:ext cx="1609344" cy="4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3225" b="1" spc="-32">
                <a:solidFill>
                  <a:srgbClr val="58999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</a:t>
            </a:r>
            <a:endParaRPr lang="en-US" sz="3225" b="1" spc="-32">
              <a:solidFill>
                <a:srgbClr val="58999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524625" y="6429375"/>
            <a:ext cx="5019675" cy="219075"/>
          </a:xfrm>
          <a:custGeom>
            <a:avLst/>
            <a:gdLst/>
            <a:ahLst/>
            <a:cxnLst/>
            <a:rect l="l" t="t" r="r" b="b"/>
            <a:pathLst>
              <a:path w="5019675" h="219075">
                <a:moveTo>
                  <a:pt x="0" y="0"/>
                </a:moveTo>
                <a:lnTo>
                  <a:pt x="5019675" y="0"/>
                </a:lnTo>
                <a:lnTo>
                  <a:pt x="5019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72925" y="2143125"/>
            <a:ext cx="5667375" cy="7715250"/>
          </a:xfrm>
          <a:custGeom>
            <a:avLst/>
            <a:gdLst/>
            <a:ahLst/>
            <a:cxnLst/>
            <a:rect l="l" t="t" r="r" b="b"/>
            <a:pathLst>
              <a:path w="5667375" h="7715250">
                <a:moveTo>
                  <a:pt x="0" y="0"/>
                </a:moveTo>
                <a:lnTo>
                  <a:pt x="5667375" y="0"/>
                </a:lnTo>
                <a:lnTo>
                  <a:pt x="566737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58775" y="2352675"/>
            <a:ext cx="3495675" cy="3219450"/>
          </a:xfrm>
          <a:custGeom>
            <a:avLst/>
            <a:gdLst/>
            <a:ahLst/>
            <a:cxnLst/>
            <a:rect l="l" t="t" r="r" b="b"/>
            <a:pathLst>
              <a:path w="3495675" h="3219450">
                <a:moveTo>
                  <a:pt x="0" y="0"/>
                </a:moveTo>
                <a:lnTo>
                  <a:pt x="3495675" y="0"/>
                </a:lnTo>
                <a:lnTo>
                  <a:pt x="3495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136624" y="5851039"/>
            <a:ext cx="1298448" cy="44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3225" b="1" spc="-32">
                <a:solidFill>
                  <a:srgbClr val="58999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ADMIN</a:t>
            </a:r>
            <a:endParaRPr lang="en-US" sz="3225" b="1" spc="-32">
              <a:solidFill>
                <a:srgbClr val="58999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401550" y="6429375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33856" y="6709054"/>
            <a:ext cx="4645152" cy="2497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5"/>
              </a:lnSpc>
            </a:pPr>
            <a:r>
              <a:rPr lang="en-US" sz="2230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Register and login</a:t>
            </a:r>
            <a:endParaRPr lang="en-US" sz="2230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15"/>
              </a:lnSpc>
            </a:pPr>
            <a:r>
              <a:rPr lang="en-US" sz="2230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Browse categories, vendors, offerings</a:t>
            </a:r>
            <a:endParaRPr lang="en-US" sz="2230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15"/>
              </a:lnSpc>
            </a:pPr>
            <a:r>
              <a:rPr lang="en-US" sz="2230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Place orders and service requests</a:t>
            </a:r>
            <a:endParaRPr lang="en-US" sz="2230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15"/>
              </a:lnSpc>
            </a:pPr>
            <a:r>
              <a:rPr lang="en-US" sz="2230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Track order status</a:t>
            </a:r>
            <a:endParaRPr lang="en-US" sz="2230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15"/>
              </a:lnSpc>
            </a:pPr>
            <a:r>
              <a:rPr lang="en-US" sz="2230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Submit reviews for completed orders</a:t>
            </a:r>
            <a:endParaRPr lang="en-US" sz="2230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8000" y="6743143"/>
            <a:ext cx="4498848" cy="239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Register as vendor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17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Manage business info and offerings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17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Receive, approve/reject,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17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complete orders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170"/>
              </a:lnSpc>
            </a:pPr>
          </a:p>
          <a:p>
            <a:pPr algn="l">
              <a:lnSpc>
                <a:spcPts val="317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Access customer and order data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582144" y="6690974"/>
            <a:ext cx="3401568" cy="1503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Manage users and vendors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8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Verify vendor registrations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080"/>
              </a:lnSpc>
            </a:pPr>
            <a:r>
              <a:rPr lang="en-US" sz="2265" spc="-2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View platform analytics</a:t>
            </a:r>
            <a:endParaRPr lang="en-US" sz="2265" spc="-2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944" y="558845"/>
            <a:ext cx="8650224" cy="195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805" b="1" spc="-136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System Architecture &amp; Technology Stack</a:t>
            </a:r>
            <a:endParaRPr lang="en-US" sz="6805" b="1" spc="-136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47700" y="257175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4944" y="3327161"/>
            <a:ext cx="4498848" cy="206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0"/>
              </a:lnSpc>
            </a:pPr>
            <a:r>
              <a:rPr lang="en-US" sz="2620" spc="-52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modern, scalable architecture built with proven technologies for performance, reliability, and seamless integrations.</a:t>
            </a:r>
            <a:endParaRPr lang="en-US" sz="2620" spc="-52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400925" y="1495425"/>
            <a:ext cx="6315075" cy="1295400"/>
          </a:xfrm>
          <a:custGeom>
            <a:avLst/>
            <a:gdLst/>
            <a:ahLst/>
            <a:cxnLst/>
            <a:rect l="l" t="t" r="r" b="b"/>
            <a:pathLst>
              <a:path w="6315075" h="1295400">
                <a:moveTo>
                  <a:pt x="0" y="0"/>
                </a:moveTo>
                <a:lnTo>
                  <a:pt x="6315075" y="0"/>
                </a:lnTo>
                <a:lnTo>
                  <a:pt x="6315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29550" y="19240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24544" y="1827150"/>
            <a:ext cx="1645920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User / Browser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24544" y="2236622"/>
            <a:ext cx="2816352" cy="31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665" spc="-33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Users interact through the web.</a:t>
            </a:r>
            <a:endParaRPr lang="en-US" sz="1665" spc="-33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8048625" y="257175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400925" y="2781300"/>
            <a:ext cx="6315075" cy="1295400"/>
          </a:xfrm>
          <a:custGeom>
            <a:avLst/>
            <a:gdLst/>
            <a:ahLst/>
            <a:cxnLst/>
            <a:rect l="l" t="t" r="r" b="b"/>
            <a:pathLst>
              <a:path w="6315075" h="1295400">
                <a:moveTo>
                  <a:pt x="0" y="0"/>
                </a:moveTo>
                <a:lnTo>
                  <a:pt x="6315075" y="0"/>
                </a:lnTo>
                <a:lnTo>
                  <a:pt x="6315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924290" y="3148965"/>
            <a:ext cx="5201920" cy="348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 b="1" spc="-33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Next.js (App Router) + TypeScript + Tailwind CSS</a:t>
            </a:r>
            <a:endParaRPr lang="en-US" sz="1700" b="1" spc="-33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924544" y="3473070"/>
            <a:ext cx="969264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spc="-39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Frontend</a:t>
            </a:r>
            <a:endParaRPr lang="en-US" sz="1980" spc="-39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048625" y="3857625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400925" y="4067175"/>
            <a:ext cx="6315075" cy="1295400"/>
          </a:xfrm>
          <a:custGeom>
            <a:avLst/>
            <a:gdLst/>
            <a:ahLst/>
            <a:cxnLst/>
            <a:rect l="l" t="t" r="r" b="b"/>
            <a:pathLst>
              <a:path w="6315075" h="1295400">
                <a:moveTo>
                  <a:pt x="0" y="0"/>
                </a:moveTo>
                <a:lnTo>
                  <a:pt x="6315075" y="0"/>
                </a:lnTo>
                <a:lnTo>
                  <a:pt x="6315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45552" y="4613282"/>
            <a:ext cx="640080" cy="34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1805" b="1" spc="-36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REST</a:t>
            </a:r>
            <a:endParaRPr lang="en-US" sz="1805" b="1" spc="-36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24544" y="4398900"/>
            <a:ext cx="1060704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REST API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24544" y="4808372"/>
            <a:ext cx="3054096" cy="31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665" spc="-33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Handles requests and responses.</a:t>
            </a:r>
            <a:endParaRPr lang="en-US" sz="1665" spc="-33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8048625" y="514350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400925" y="5353050"/>
            <a:ext cx="6315075" cy="1504950"/>
          </a:xfrm>
          <a:custGeom>
            <a:avLst/>
            <a:gdLst/>
            <a:ahLst/>
            <a:cxnLst/>
            <a:rect l="l" t="t" r="r" b="b"/>
            <a:pathLst>
              <a:path w="6315075" h="1504950">
                <a:moveTo>
                  <a:pt x="0" y="0"/>
                </a:moveTo>
                <a:lnTo>
                  <a:pt x="6315075" y="0"/>
                </a:lnTo>
                <a:lnTo>
                  <a:pt x="6315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924544" y="5705349"/>
            <a:ext cx="2560320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Express.js + TypeScript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924290" y="6075680"/>
            <a:ext cx="1607185" cy="406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spc="-39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Backend</a:t>
            </a:r>
            <a:endParaRPr lang="en-US" sz="1980" spc="-39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8048625" y="6638925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400925" y="6638925"/>
            <a:ext cx="6315075" cy="1504950"/>
          </a:xfrm>
          <a:custGeom>
            <a:avLst/>
            <a:gdLst/>
            <a:ahLst/>
            <a:cxnLst/>
            <a:rect l="l" t="t" r="r" b="b"/>
            <a:pathLst>
              <a:path w="6315075" h="1504950">
                <a:moveTo>
                  <a:pt x="0" y="0"/>
                </a:moveTo>
                <a:lnTo>
                  <a:pt x="6315075" y="0"/>
                </a:lnTo>
                <a:lnTo>
                  <a:pt x="6315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829550" y="70675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924544" y="7022085"/>
            <a:ext cx="1719072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Sequelize ORM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924544" y="7431557"/>
            <a:ext cx="3218688" cy="31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665" spc="-33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Manages data models and queries.</a:t>
            </a:r>
            <a:endParaRPr lang="en-US" sz="1665" spc="-33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8048625" y="7924800"/>
            <a:ext cx="228600" cy="438150"/>
          </a:xfrm>
          <a:custGeom>
            <a:avLst/>
            <a:gdLst/>
            <a:ahLst/>
            <a:cxnLst/>
            <a:rect l="l" t="t" r="r" b="b"/>
            <a:pathLst>
              <a:path w="228600" h="43815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400925" y="8143875"/>
            <a:ext cx="6315075" cy="1285875"/>
          </a:xfrm>
          <a:custGeom>
            <a:avLst/>
            <a:gdLst/>
            <a:ahLst/>
            <a:cxnLst/>
            <a:rect l="l" t="t" r="r" b="b"/>
            <a:pathLst>
              <a:path w="6315075" h="1285875">
                <a:moveTo>
                  <a:pt x="0" y="0"/>
                </a:moveTo>
                <a:lnTo>
                  <a:pt x="6315075" y="0"/>
                </a:lnTo>
                <a:lnTo>
                  <a:pt x="6315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829550" y="8353425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924544" y="8349108"/>
            <a:ext cx="1883664" cy="38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MySQL Database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924544" y="8758580"/>
            <a:ext cx="3456432" cy="31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665" spc="-33">
                <a:solidFill>
                  <a:srgbClr val="12121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Stores and manages application data.</a:t>
            </a:r>
            <a:endParaRPr lang="en-US" sz="1665" spc="-33">
              <a:solidFill>
                <a:srgbClr val="12121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13716000" y="60007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363700" y="5353050"/>
            <a:ext cx="3276600" cy="2152650"/>
          </a:xfrm>
          <a:custGeom>
            <a:avLst/>
            <a:gdLst/>
            <a:ahLst/>
            <a:cxnLst/>
            <a:rect l="l" t="t" r="r" b="b"/>
            <a:pathLst>
              <a:path w="3276600" h="2152650">
                <a:moveTo>
                  <a:pt x="0" y="0"/>
                </a:moveTo>
                <a:lnTo>
                  <a:pt x="3276600" y="0"/>
                </a:lnTo>
                <a:lnTo>
                  <a:pt x="3276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4867890" y="5798185"/>
            <a:ext cx="3152140" cy="406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b="1" spc="-39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External Integrations</a:t>
            </a:r>
            <a:endParaRPr lang="en-US" sz="1980" b="1" spc="-39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3716000" y="8572500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363700" y="7715250"/>
            <a:ext cx="3276600" cy="1933575"/>
          </a:xfrm>
          <a:custGeom>
            <a:avLst/>
            <a:gdLst/>
            <a:ahLst/>
            <a:cxnLst/>
            <a:rect l="l" t="t" r="r" b="b"/>
            <a:pathLst>
              <a:path w="3276600" h="1933575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4868144" y="7962064"/>
            <a:ext cx="1298448" cy="37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5"/>
              </a:lnSpc>
            </a:pPr>
            <a:r>
              <a:rPr lang="en-US" sz="1945" b="1" spc="-38">
                <a:solidFill>
                  <a:srgbClr val="3E827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Deployment</a:t>
            </a:r>
            <a:endParaRPr lang="en-US" sz="1945" b="1" spc="-38">
              <a:solidFill>
                <a:srgbClr val="3E827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4868144" y="8509128"/>
            <a:ext cx="2103120" cy="78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1980" spc="-39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Frontend on Vercel Backend on Render</a:t>
            </a:r>
            <a:endParaRPr lang="en-US" sz="1980" spc="-39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512685" y="3327400"/>
            <a:ext cx="1268730" cy="37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1805" b="1" spc="-36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NEXT.JS</a:t>
            </a:r>
            <a:endParaRPr lang="en-US" sz="1805" b="1" spc="-36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717536" y="5806574"/>
            <a:ext cx="859536" cy="34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1805" spc="-36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express</a:t>
            </a:r>
            <a:endParaRPr lang="en-US" sz="1805" spc="-36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955280" y="7049595"/>
            <a:ext cx="420624" cy="76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5"/>
              </a:lnSpc>
            </a:pPr>
            <a:r>
              <a:rPr lang="en-US" sz="4005" b="1" spc="-8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}</a:t>
            </a:r>
            <a:endParaRPr lang="en-US" sz="4005" b="1" spc="-80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4868144" y="6289560"/>
            <a:ext cx="2322576" cy="811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015" spc="-4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Mapbox (Location)</a:t>
            </a:r>
            <a:endParaRPr lang="en-US" sz="2015" spc="-4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3230"/>
              </a:lnSpc>
            </a:pPr>
            <a:r>
              <a:rPr lang="en-US" sz="2015" spc="-4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Razorpay (payments)</a:t>
            </a:r>
            <a:endParaRPr lang="en-US" sz="2015" spc="-4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3504" y="589217"/>
            <a:ext cx="733348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7975" spc="-159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Database Design</a:t>
            </a:r>
            <a:endParaRPr lang="en-US" sz="7975" spc="-159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2862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0080" y="2230162"/>
            <a:ext cx="4974336" cy="148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283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unified data model connecting users, vendors, offerings, orders, and reviews.</a:t>
            </a:r>
            <a:endParaRPr lang="en-US" sz="283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219700" y="4067175"/>
            <a:ext cx="8286750" cy="219075"/>
          </a:xfrm>
          <a:custGeom>
            <a:avLst/>
            <a:gdLst/>
            <a:ahLst/>
            <a:cxnLst/>
            <a:rect l="l" t="t" r="r" b="b"/>
            <a:pathLst>
              <a:path w="8286750" h="219075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72625" y="3209925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68000" y="2352675"/>
            <a:ext cx="2838450" cy="219075"/>
          </a:xfrm>
          <a:custGeom>
            <a:avLst/>
            <a:gdLst/>
            <a:ahLst/>
            <a:cxnLst/>
            <a:rect l="l" t="t" r="r" b="b"/>
            <a:pathLst>
              <a:path w="2838450" h="219075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68000" y="6000750"/>
            <a:ext cx="4362450" cy="219075"/>
          </a:xfrm>
          <a:custGeom>
            <a:avLst/>
            <a:gdLst/>
            <a:ahLst/>
            <a:cxnLst/>
            <a:rect l="l" t="t" r="r" b="b"/>
            <a:pathLst>
              <a:path w="4362450" h="219075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95700" y="5781675"/>
            <a:ext cx="228600" cy="1724025"/>
          </a:xfrm>
          <a:custGeom>
            <a:avLst/>
            <a:gdLst/>
            <a:ahLst/>
            <a:cxnLst/>
            <a:rect l="l" t="t" r="r" b="b"/>
            <a:pathLst>
              <a:path w="228600" h="1724025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62775" y="7286625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68000" y="7286625"/>
            <a:ext cx="2181225" cy="219075"/>
          </a:xfrm>
          <a:custGeom>
            <a:avLst/>
            <a:gdLst/>
            <a:ahLst/>
            <a:cxnLst/>
            <a:rect l="l" t="t" r="r" b="b"/>
            <a:pathLst>
              <a:path w="2181225" h="21907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86775" y="1495425"/>
            <a:ext cx="2400300" cy="1933575"/>
          </a:xfrm>
          <a:custGeom>
            <a:avLst/>
            <a:gdLst/>
            <a:ahLst/>
            <a:cxnLst/>
            <a:rect l="l" t="t" r="r" b="b"/>
            <a:pathLst>
              <a:path w="2400300" h="1933575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778240" y="2153616"/>
            <a:ext cx="731520" cy="101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4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84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760"/>
              </a:lnSpc>
            </a:pPr>
            <a:r>
              <a:rPr lang="en-US" sz="184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name</a:t>
            </a:r>
            <a:endParaRPr lang="en-US" sz="184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760"/>
              </a:lnSpc>
            </a:pPr>
            <a:r>
              <a:rPr lang="en-US" sz="184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email</a:t>
            </a:r>
            <a:endParaRPr lang="en-US" sz="184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3277850" y="1714500"/>
            <a:ext cx="2619375" cy="2362200"/>
          </a:xfrm>
          <a:custGeom>
            <a:avLst/>
            <a:gdLst/>
            <a:ahLst/>
            <a:cxnLst/>
            <a:rect l="l" t="t" r="r" b="b"/>
            <a:pathLst>
              <a:path w="2619375" h="2362200">
                <a:moveTo>
                  <a:pt x="0" y="0"/>
                </a:moveTo>
                <a:lnTo>
                  <a:pt x="2619375" y="0"/>
                </a:lnTo>
                <a:lnTo>
                  <a:pt x="2619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661136" y="2427591"/>
            <a:ext cx="1097280" cy="117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59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59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390"/>
              </a:lnSpc>
            </a:pPr>
            <a:r>
              <a:rPr lang="en-US" sz="159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user_id (FK)</a:t>
            </a:r>
            <a:endParaRPr lang="en-US" sz="159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390"/>
              </a:lnSpc>
            </a:pPr>
            <a:r>
              <a:rPr lang="en-US" sz="159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name</a:t>
            </a:r>
            <a:endParaRPr lang="en-US" sz="159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390"/>
              </a:lnSpc>
            </a:pPr>
            <a:r>
              <a:rPr lang="en-US" sz="159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description</a:t>
            </a:r>
            <a:endParaRPr lang="en-US" sz="159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828925" y="3857625"/>
            <a:ext cx="2619375" cy="2143125"/>
          </a:xfrm>
          <a:custGeom>
            <a:avLst/>
            <a:gdLst/>
            <a:ahLst/>
            <a:cxnLst/>
            <a:rect l="l" t="t" r="r" b="b"/>
            <a:pathLst>
              <a:path w="2619375" h="2143125">
                <a:moveTo>
                  <a:pt x="0" y="0"/>
                </a:moveTo>
                <a:lnTo>
                  <a:pt x="2619375" y="0"/>
                </a:lnTo>
                <a:lnTo>
                  <a:pt x="2619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419856" y="4214431"/>
            <a:ext cx="144475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91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CATEGORIES</a:t>
            </a:r>
            <a:endParaRPr lang="en-US" sz="191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00400" y="4774377"/>
            <a:ext cx="1078992" cy="92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name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description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8486775" y="4924425"/>
            <a:ext cx="2400300" cy="2790825"/>
          </a:xfrm>
          <a:custGeom>
            <a:avLst/>
            <a:gdLst/>
            <a:ahLst/>
            <a:cxnLst/>
            <a:rect l="l" t="t" r="r" b="b"/>
            <a:pathLst>
              <a:path w="2400300" h="2790825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198864" y="5135499"/>
            <a:ext cx="9692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98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ORDERS</a:t>
            </a:r>
            <a:endParaRPr lang="en-US" sz="198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78240" y="5740784"/>
            <a:ext cx="1481328" cy="1555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user_id (FK)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vendor_id (FK)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offering_id (FK)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95"/>
              </a:lnSpc>
            </a:pPr>
            <a:r>
              <a:rPr lang="en-US" sz="166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scheduledAt</a:t>
            </a:r>
            <a:endParaRPr lang="en-US" sz="166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4572000" y="6638925"/>
            <a:ext cx="2619375" cy="3438525"/>
          </a:xfrm>
          <a:custGeom>
            <a:avLst/>
            <a:gdLst/>
            <a:ahLst/>
            <a:cxnLst/>
            <a:rect l="l" t="t" r="r" b="b"/>
            <a:pathLst>
              <a:path w="2619375" h="3438525">
                <a:moveTo>
                  <a:pt x="0" y="0"/>
                </a:moveTo>
                <a:lnTo>
                  <a:pt x="2619375" y="0"/>
                </a:lnTo>
                <a:lnTo>
                  <a:pt x="2619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266944" y="6904863"/>
            <a:ext cx="133502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98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OFFERINGS</a:t>
            </a:r>
            <a:endParaRPr lang="en-US" sz="198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029200" y="7481278"/>
            <a:ext cx="1536192" cy="212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vendor_id (FK)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category_id (FK)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name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type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description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price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2620625" y="7067550"/>
            <a:ext cx="2409825" cy="2790825"/>
          </a:xfrm>
          <a:custGeom>
            <a:avLst/>
            <a:gdLst/>
            <a:ahLst/>
            <a:cxnLst/>
            <a:rect l="l" t="t" r="r" b="b"/>
            <a:pathLst>
              <a:path w="2409825" h="2790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3295376" y="7316343"/>
            <a:ext cx="102412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9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REVIEWS</a:t>
            </a:r>
            <a:endParaRPr lang="en-US" sz="19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29616" y="7904379"/>
            <a:ext cx="1207008" cy="1519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id (PK)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order_id (FK)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user_id (FK)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rating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2440"/>
              </a:lnSpc>
            </a:pPr>
            <a:r>
              <a:rPr lang="en-US" sz="163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comment</a:t>
            </a:r>
            <a:endParaRPr lang="en-US" sz="163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90304" y="1720215"/>
            <a:ext cx="7863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98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USERS</a:t>
            </a:r>
            <a:endParaRPr lang="en-US" sz="198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026896" y="1874520"/>
            <a:ext cx="11155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</a:pPr>
            <a:r>
              <a:rPr lang="en-US" sz="19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VENDORS</a:t>
            </a:r>
            <a:endParaRPr lang="en-US" sz="19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6928" y="608838"/>
            <a:ext cx="1261872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5"/>
              </a:lnSpc>
            </a:pPr>
            <a:r>
              <a:rPr lang="en-US" sz="6980" b="1" spc="-209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Application Workflow / Prototype</a:t>
            </a:r>
            <a:endParaRPr lang="en-US" sz="6980" b="1" spc="-209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28625" y="17145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6928" y="2115552"/>
            <a:ext cx="5961888" cy="92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795" spc="-83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 seamless journey connecting residents with trusted local services.</a:t>
            </a:r>
            <a:endParaRPr lang="en-US" sz="2795" spc="-83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1600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01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47700" y="4067175"/>
            <a:ext cx="1752600" cy="1724025"/>
          </a:xfrm>
          <a:custGeom>
            <a:avLst/>
            <a:gdLst/>
            <a:ahLst/>
            <a:cxnLst/>
            <a:rect l="l" t="t" r="r" b="b"/>
            <a:pathLst>
              <a:path w="1752600" h="1724025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5850" y="449580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4400" y="5960173"/>
            <a:ext cx="129844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Register / Login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8368" y="6958391"/>
            <a:ext cx="1847088" cy="62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177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Create an account or sign in securely.</a:t>
            </a:r>
            <a:endParaRPr lang="en-US" sz="177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390775" y="47148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40480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02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257550" y="4067175"/>
            <a:ext cx="1533525" cy="1724025"/>
          </a:xfrm>
          <a:custGeom>
            <a:avLst/>
            <a:gdLst/>
            <a:ahLst/>
            <a:cxnLst/>
            <a:rect l="l" t="t" r="r" b="b"/>
            <a:pathLst>
              <a:path w="1533525" h="17240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95700" y="449580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218688" y="5959221"/>
            <a:ext cx="173736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Browse Categories &amp; Vendors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419856" y="7096606"/>
            <a:ext cx="1316736" cy="102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</a:pPr>
            <a:r>
              <a:rPr lang="en-US" sz="180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Explore local services and providers.</a:t>
            </a:r>
            <a:endParaRPr lang="en-US" sz="180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781550" y="4714875"/>
            <a:ext cx="885825" cy="428625"/>
          </a:xfrm>
          <a:custGeom>
            <a:avLst/>
            <a:gdLst/>
            <a:ahLst/>
            <a:cxnLst/>
            <a:rect l="l" t="t" r="r" b="b"/>
            <a:pathLst>
              <a:path w="885825" h="428625">
                <a:moveTo>
                  <a:pt x="0" y="0"/>
                </a:moveTo>
                <a:lnTo>
                  <a:pt x="885825" y="0"/>
                </a:lnTo>
                <a:lnTo>
                  <a:pt x="885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364224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03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5657850" y="4067175"/>
            <a:ext cx="1752600" cy="1724025"/>
          </a:xfrm>
          <a:custGeom>
            <a:avLst/>
            <a:gdLst/>
            <a:ahLst/>
            <a:cxnLst/>
            <a:rect l="l" t="t" r="r" b="b"/>
            <a:pathLst>
              <a:path w="1752600" h="1724025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096000" y="44958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016752" y="5960173"/>
            <a:ext cx="107899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Select Offering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687568" y="6953056"/>
            <a:ext cx="1773936" cy="132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177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Choose the service or product that fits your needs.</a:t>
            </a:r>
            <a:endParaRPr lang="en-US" sz="177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7400925" y="47148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8851392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04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8267700" y="4067175"/>
            <a:ext cx="1752600" cy="1724025"/>
          </a:xfrm>
          <a:custGeom>
            <a:avLst/>
            <a:gdLst/>
            <a:ahLst/>
            <a:cxnLst/>
            <a:rect l="l" t="t" r="r" b="b"/>
            <a:pathLst>
              <a:path w="1752600" h="1724025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486775" y="4495800"/>
            <a:ext cx="1095375" cy="866775"/>
          </a:xfrm>
          <a:custGeom>
            <a:avLst/>
            <a:gdLst/>
            <a:ahLst/>
            <a:cxnLst/>
            <a:rect l="l" t="t" r="r" b="b"/>
            <a:pathLst>
              <a:path w="1095375" h="8667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046720" y="5960173"/>
            <a:ext cx="210312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Place Order / Service Request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193024" y="6937071"/>
            <a:ext cx="1773936" cy="101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184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Submit your order or request with details.</a:t>
            </a:r>
            <a:endParaRPr lang="en-US" sz="184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9791700" y="47148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356848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05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0668000" y="4067175"/>
            <a:ext cx="1743075" cy="1724025"/>
          </a:xfrm>
          <a:custGeom>
            <a:avLst/>
            <a:gdLst/>
            <a:ahLst/>
            <a:cxnLst/>
            <a:rect l="l" t="t" r="r" b="b"/>
            <a:pathLst>
              <a:path w="1743075" h="172402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096625" y="4495800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972800" y="5960173"/>
            <a:ext cx="118872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Vendor Approval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789920" y="6950008"/>
            <a:ext cx="1536192" cy="98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177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Vendor reviews and approvals or rejects.</a:t>
            </a:r>
            <a:endParaRPr lang="en-US" sz="177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2401550" y="4714875"/>
            <a:ext cx="885825" cy="428625"/>
          </a:xfrm>
          <a:custGeom>
            <a:avLst/>
            <a:gdLst/>
            <a:ahLst/>
            <a:cxnLst/>
            <a:rect l="l" t="t" r="r" b="b"/>
            <a:pathLst>
              <a:path w="885825" h="428625">
                <a:moveTo>
                  <a:pt x="0" y="0"/>
                </a:moveTo>
                <a:lnTo>
                  <a:pt x="885825" y="0"/>
                </a:lnTo>
                <a:lnTo>
                  <a:pt x="885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3844016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06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3277850" y="4067175"/>
            <a:ext cx="1533525" cy="1724025"/>
          </a:xfrm>
          <a:custGeom>
            <a:avLst/>
            <a:gdLst/>
            <a:ahLst/>
            <a:cxnLst/>
            <a:rect l="l" t="t" r="r" b="b"/>
            <a:pathLst>
              <a:path w="1533525" h="1724025">
                <a:moveTo>
                  <a:pt x="0" y="0"/>
                </a:moveTo>
                <a:lnTo>
                  <a:pt x="1533525" y="0"/>
                </a:lnTo>
                <a:lnTo>
                  <a:pt x="1533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496925" y="44958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3277088" y="5960173"/>
            <a:ext cx="153619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Order Completion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094208" y="6950008"/>
            <a:ext cx="1883664" cy="98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177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Service is delivered or product is fulfilled.</a:t>
            </a:r>
            <a:endParaRPr lang="en-US" sz="177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14801850" y="47148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6331184" y="3642652"/>
            <a:ext cx="420624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45" b="1" spc="-91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07</a:t>
            </a:r>
            <a:endParaRPr lang="en-US" sz="3045" b="1" spc="-91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5668625" y="4067175"/>
            <a:ext cx="1752600" cy="1724025"/>
          </a:xfrm>
          <a:custGeom>
            <a:avLst/>
            <a:gdLst/>
            <a:ahLst/>
            <a:cxnLst/>
            <a:rect l="l" t="t" r="r" b="b"/>
            <a:pathLst>
              <a:path w="1752600" h="1724025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106775" y="449580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5855696" y="5960173"/>
            <a:ext cx="135331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Customer Review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5581376" y="6953056"/>
            <a:ext cx="1938528" cy="132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</a:pPr>
            <a:r>
              <a:rPr lang="en-US" sz="177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Share feedback to help the community make better choices.</a:t>
            </a:r>
            <a:endParaRPr lang="en-US" sz="177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1304925" y="7715250"/>
            <a:ext cx="5229225" cy="1504950"/>
          </a:xfrm>
          <a:custGeom>
            <a:avLst/>
            <a:gdLst/>
            <a:ahLst/>
            <a:cxnLst/>
            <a:rect l="l" t="t" r="r" b="b"/>
            <a:pathLst>
              <a:path w="5229225" h="1504950">
                <a:moveTo>
                  <a:pt x="0" y="0"/>
                </a:moveTo>
                <a:lnTo>
                  <a:pt x="5229225" y="0"/>
                </a:lnTo>
                <a:lnTo>
                  <a:pt x="5229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6656832" y="8928925"/>
            <a:ext cx="497433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6A9285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Prototype is deployed and functional.</a:t>
            </a:r>
            <a:endParaRPr lang="en-US" sz="2405" b="1" spc="-72">
              <a:solidFill>
                <a:srgbClr val="6A9285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11753850" y="8353425"/>
            <a:ext cx="5010150" cy="866775"/>
          </a:xfrm>
          <a:custGeom>
            <a:avLst/>
            <a:gdLst/>
            <a:ahLst/>
            <a:cxnLst/>
            <a:rect l="l" t="t" r="r" b="b"/>
            <a:pathLst>
              <a:path w="5010150" h="866775">
                <a:moveTo>
                  <a:pt x="0" y="0"/>
                </a:moveTo>
                <a:lnTo>
                  <a:pt x="5010150" y="0"/>
                </a:lnTo>
                <a:lnTo>
                  <a:pt x="5010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53550" y="0"/>
            <a:ext cx="8934450" cy="8362950"/>
          </a:xfrm>
          <a:custGeom>
            <a:avLst/>
            <a:gdLst/>
            <a:ahLst/>
            <a:cxnLst/>
            <a:rect l="l" t="t" r="r" b="b"/>
            <a:pathLst>
              <a:path w="8934450" h="8362950">
                <a:moveTo>
                  <a:pt x="0" y="0"/>
                </a:moveTo>
                <a:lnTo>
                  <a:pt x="8934450" y="0"/>
                </a:lnTo>
                <a:lnTo>
                  <a:pt x="89344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70886" y="2687906"/>
            <a:ext cx="3299778" cy="4286250"/>
          </a:xfrm>
          <a:custGeom>
            <a:avLst/>
            <a:gdLst/>
            <a:ahLst/>
            <a:cxnLst/>
            <a:rect l="l" t="t" r="r" b="b"/>
            <a:pathLst>
              <a:path w="3299778" h="4286250">
                <a:moveTo>
                  <a:pt x="0" y="0"/>
                </a:moveTo>
                <a:lnTo>
                  <a:pt x="3299778" y="0"/>
                </a:lnTo>
                <a:lnTo>
                  <a:pt x="3299778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1792" y="656512"/>
            <a:ext cx="8412480" cy="203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5"/>
              </a:lnSpc>
            </a:pPr>
            <a:r>
              <a:rPr lang="en-US" sz="7620" b="1" spc="-152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Security, Validation &amp; Reliability</a:t>
            </a:r>
            <a:endParaRPr lang="en-US" sz="7620" b="1" spc="-152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28625" y="2571750"/>
            <a:ext cx="1533525" cy="428625"/>
          </a:xfrm>
          <a:custGeom>
            <a:avLst/>
            <a:gdLst/>
            <a:ahLst/>
            <a:cxnLst/>
            <a:rect l="l" t="t" r="r" b="b"/>
            <a:pathLst>
              <a:path w="1533525" h="428625">
                <a:moveTo>
                  <a:pt x="0" y="0"/>
                </a:moveTo>
                <a:lnTo>
                  <a:pt x="1533525" y="0"/>
                </a:lnTo>
                <a:lnTo>
                  <a:pt x="153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775" y="3209925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6192" y="3469284"/>
            <a:ext cx="4791456" cy="38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760" b="1" spc="-55">
                <a:solidFill>
                  <a:srgbClr val="61A89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JWT access and refresh tokens</a:t>
            </a:r>
            <a:endParaRPr lang="en-US" sz="2760" b="1" spc="-55">
              <a:solidFill>
                <a:srgbClr val="61A89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36192" y="3950701"/>
            <a:ext cx="2688336" cy="31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2265" spc="-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with HttpOnly cookies</a:t>
            </a:r>
            <a:endParaRPr lang="en-US" sz="2265" spc="-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304925" y="428625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6775" y="449580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6192" y="4729057"/>
            <a:ext cx="3931920" cy="39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835" b="1" spc="-56">
                <a:solidFill>
                  <a:srgbClr val="61A89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bcrypt password hashing</a:t>
            </a:r>
            <a:endParaRPr lang="en-US" sz="2835" b="1" spc="-56">
              <a:solidFill>
                <a:srgbClr val="61A89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36065" y="5226685"/>
            <a:ext cx="4930140" cy="285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2160" spc="-43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 passwords exposed via APIs</a:t>
            </a:r>
            <a:endParaRPr lang="en-US" sz="2160" spc="-43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304925" y="5572125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6775" y="578167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36192" y="6004645"/>
            <a:ext cx="3931920" cy="39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835" b="1" spc="-56">
                <a:solidFill>
                  <a:srgbClr val="61A89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role-based authorization</a:t>
            </a:r>
            <a:endParaRPr lang="en-US" sz="2835" b="1" spc="-56">
              <a:solidFill>
                <a:srgbClr val="61A89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36192" y="6491590"/>
            <a:ext cx="2761488" cy="31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2265" spc="-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ownership checks</a:t>
            </a:r>
            <a:endParaRPr lang="en-US" sz="2265" spc="-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04925" y="685800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6775" y="706755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36192" y="7280233"/>
            <a:ext cx="3822192" cy="39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835" b="1" spc="-56">
                <a:solidFill>
                  <a:srgbClr val="61A89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server-side order status</a:t>
            </a:r>
            <a:endParaRPr lang="en-US" sz="2835" b="1" spc="-56">
              <a:solidFill>
                <a:srgbClr val="61A89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36192" y="7756508"/>
            <a:ext cx="2450592" cy="3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2300" spc="-46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transition validation</a:t>
            </a:r>
            <a:endParaRPr lang="en-US" sz="2300" spc="-46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04925" y="8143875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66775" y="835342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536192" y="8545534"/>
            <a:ext cx="2962656" cy="39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835" b="1" spc="-56">
                <a:solidFill>
                  <a:srgbClr val="61A89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review restrictions</a:t>
            </a:r>
            <a:endParaRPr lang="en-US" sz="2835" b="1" spc="-56">
              <a:solidFill>
                <a:srgbClr val="61A89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36192" y="9022192"/>
            <a:ext cx="4462272" cy="31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2265" spc="-4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one review per completed order only</a:t>
            </a:r>
            <a:endParaRPr lang="en-US" sz="2265" spc="-4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0080" y="546273"/>
            <a:ext cx="7973568" cy="192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5"/>
              </a:lnSpc>
            </a:pPr>
            <a:r>
              <a:rPr lang="en-US" sz="7015" b="1" spc="-21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Deployment, Testing &amp; Results</a:t>
            </a:r>
            <a:endParaRPr lang="en-US" sz="7015" b="1" spc="-210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47700" y="25717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3000375"/>
            <a:ext cx="8067675" cy="1285875"/>
          </a:xfrm>
          <a:custGeom>
            <a:avLst/>
            <a:gdLst/>
            <a:ahLst/>
            <a:cxnLst/>
            <a:rect l="l" t="t" r="r" b="b"/>
            <a:pathLst>
              <a:path w="8067675" h="1285875">
                <a:moveTo>
                  <a:pt x="0" y="0"/>
                </a:moveTo>
                <a:lnTo>
                  <a:pt x="8067675" y="0"/>
                </a:lnTo>
                <a:lnTo>
                  <a:pt x="8067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6775" y="3429000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65630" y="3459480"/>
            <a:ext cx="6821170" cy="424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760" b="1" spc="-82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Frontend TypeScript checks passed</a:t>
            </a:r>
            <a:endParaRPr lang="en-US" sz="2760" b="1" spc="-82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47700" y="4286250"/>
            <a:ext cx="8067675" cy="1076325"/>
          </a:xfrm>
          <a:custGeom>
            <a:avLst/>
            <a:gdLst/>
            <a:ahLst/>
            <a:cxnLst/>
            <a:rect l="l" t="t" r="r" b="b"/>
            <a:pathLst>
              <a:path w="8067675" h="1076325">
                <a:moveTo>
                  <a:pt x="0" y="0"/>
                </a:moveTo>
                <a:lnTo>
                  <a:pt x="8067675" y="0"/>
                </a:lnTo>
                <a:lnTo>
                  <a:pt x="806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6775" y="449580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65376" y="4611434"/>
            <a:ext cx="52669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760" b="1" spc="-82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Backend TypeScript checks passed</a:t>
            </a:r>
            <a:endParaRPr lang="en-US" sz="2760" b="1" spc="-82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47700" y="5353050"/>
            <a:ext cx="8067675" cy="1295400"/>
          </a:xfrm>
          <a:custGeom>
            <a:avLst/>
            <a:gdLst/>
            <a:ahLst/>
            <a:cxnLst/>
            <a:rect l="l" t="t" r="r" b="b"/>
            <a:pathLst>
              <a:path w="8067675" h="1295400">
                <a:moveTo>
                  <a:pt x="0" y="0"/>
                </a:moveTo>
                <a:lnTo>
                  <a:pt x="8067675" y="0"/>
                </a:lnTo>
                <a:lnTo>
                  <a:pt x="8067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6775" y="57816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65376" y="5773864"/>
            <a:ext cx="530352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795" b="1" spc="-83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Next.js production build successful</a:t>
            </a:r>
            <a:endParaRPr lang="en-US" sz="2795" b="1" spc="-83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47700" y="6638925"/>
            <a:ext cx="8067675" cy="1504950"/>
          </a:xfrm>
          <a:custGeom>
            <a:avLst/>
            <a:gdLst/>
            <a:ahLst/>
            <a:cxnLst/>
            <a:rect l="l" t="t" r="r" b="b"/>
            <a:pathLst>
              <a:path w="8067675" h="1504950">
                <a:moveTo>
                  <a:pt x="0" y="0"/>
                </a:moveTo>
                <a:lnTo>
                  <a:pt x="8067675" y="0"/>
                </a:lnTo>
                <a:lnTo>
                  <a:pt x="806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6775" y="706755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65376" y="6875907"/>
            <a:ext cx="621792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795" b="1" spc="-83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Core customer/vendor/admin workflows tested and verified</a:t>
            </a:r>
            <a:endParaRPr lang="en-US" sz="2795" b="1" spc="-83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47700" y="7924800"/>
            <a:ext cx="8067675" cy="1504950"/>
          </a:xfrm>
          <a:custGeom>
            <a:avLst/>
            <a:gdLst/>
            <a:ahLst/>
            <a:cxnLst/>
            <a:rect l="l" t="t" r="r" b="b"/>
            <a:pathLst>
              <a:path w="8067675" h="1504950">
                <a:moveTo>
                  <a:pt x="0" y="0"/>
                </a:moveTo>
                <a:lnTo>
                  <a:pt x="8067675" y="0"/>
                </a:lnTo>
                <a:lnTo>
                  <a:pt x="806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66775" y="83534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65376" y="8264652"/>
            <a:ext cx="577900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795" b="1" spc="-83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Frontend-backend integration tested in live environment</a:t>
            </a:r>
            <a:endParaRPr lang="en-US" sz="2795" b="1" spc="-83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229850" y="1066800"/>
            <a:ext cx="5448300" cy="3009900"/>
          </a:xfrm>
          <a:custGeom>
            <a:avLst/>
            <a:gdLst/>
            <a:ahLst/>
            <a:cxnLst/>
            <a:rect l="l" t="t" r="r" b="b"/>
            <a:pathLst>
              <a:path w="5448300" h="3009900">
                <a:moveTo>
                  <a:pt x="0" y="0"/>
                </a:moveTo>
                <a:lnTo>
                  <a:pt x="5448300" y="0"/>
                </a:lnTo>
                <a:lnTo>
                  <a:pt x="5448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124944" y="1409129"/>
            <a:ext cx="16093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4B898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FRONTEND</a:t>
            </a:r>
            <a:endParaRPr lang="en-US" sz="2405" b="1" spc="-72">
              <a:solidFill>
                <a:srgbClr val="4B898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0877550" y="1924050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070080" y="1963293"/>
            <a:ext cx="2633472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6415" b="1" spc="192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Vercel</a:t>
            </a:r>
            <a:endParaRPr lang="en-US" sz="6415" b="1" spc="192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558016" y="3138487"/>
            <a:ext cx="272491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620" b="1" spc="-78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Deployed on Vercel</a:t>
            </a:r>
            <a:endParaRPr lang="en-US" sz="2620" b="1" spc="-78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2620625" y="36385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620625" y="4714875"/>
            <a:ext cx="447675" cy="219075"/>
          </a:xfrm>
          <a:custGeom>
            <a:avLst/>
            <a:gdLst/>
            <a:ahLst/>
            <a:cxnLst/>
            <a:rect l="l" t="t" r="r" b="b"/>
            <a:pathLst>
              <a:path w="447675" h="2190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620625" y="55721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620625" y="663892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229850" y="4714875"/>
            <a:ext cx="5229225" cy="1285875"/>
          </a:xfrm>
          <a:custGeom>
            <a:avLst/>
            <a:gdLst/>
            <a:ahLst/>
            <a:cxnLst/>
            <a:rect l="l" t="t" r="r" b="b"/>
            <a:pathLst>
              <a:path w="5229225" h="1285875">
                <a:moveTo>
                  <a:pt x="0" y="0"/>
                </a:moveTo>
                <a:lnTo>
                  <a:pt x="5229225" y="0"/>
                </a:lnTo>
                <a:lnTo>
                  <a:pt x="5229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283696" y="5125784"/>
            <a:ext cx="329184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795" b="1" spc="-83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LIVE ENVIRONMENT</a:t>
            </a:r>
            <a:endParaRPr lang="en-US" sz="2795" b="1" spc="-83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0229850" y="6638925"/>
            <a:ext cx="5448300" cy="3009900"/>
          </a:xfrm>
          <a:custGeom>
            <a:avLst/>
            <a:gdLst/>
            <a:ahLst/>
            <a:cxnLst/>
            <a:rect l="l" t="t" r="r" b="b"/>
            <a:pathLst>
              <a:path w="5448300" h="3009900">
                <a:moveTo>
                  <a:pt x="0" y="0"/>
                </a:moveTo>
                <a:lnTo>
                  <a:pt x="5448300" y="0"/>
                </a:lnTo>
                <a:lnTo>
                  <a:pt x="54483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216384" y="7108126"/>
            <a:ext cx="142646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405" b="1" spc="-72">
                <a:solidFill>
                  <a:srgbClr val="4B898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BACKEND</a:t>
            </a:r>
            <a:endParaRPr lang="en-US" sz="2405" b="1" spc="-72">
              <a:solidFill>
                <a:srgbClr val="4B898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11096625" y="7715250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2234672" y="7735253"/>
            <a:ext cx="241401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 spc="167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Render</a:t>
            </a:r>
            <a:endParaRPr lang="en-US" sz="5600" b="1" spc="167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484864" y="8837485"/>
            <a:ext cx="287121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620" b="1" spc="-78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Deployed on Render</a:t>
            </a:r>
            <a:endParaRPr lang="en-US" sz="2620" b="1" spc="-78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2411075" cy="10287000"/>
          </a:xfrm>
          <a:custGeom>
            <a:avLst/>
            <a:gdLst/>
            <a:ahLst/>
            <a:cxnLst/>
            <a:rect l="l" t="t" r="r" b="b"/>
            <a:pathLst>
              <a:path w="12411075" h="10287000">
                <a:moveTo>
                  <a:pt x="0" y="0"/>
                </a:moveTo>
                <a:lnTo>
                  <a:pt x="12411075" y="0"/>
                </a:lnTo>
                <a:lnTo>
                  <a:pt x="12411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6928" y="600537"/>
            <a:ext cx="5266944" cy="177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5"/>
              </a:lnSpc>
            </a:pPr>
            <a:r>
              <a:rPr lang="en-US" sz="6805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Conclusion &amp; Future Scope</a:t>
            </a:r>
            <a:endParaRPr lang="en-US" sz="6805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28625" y="2352675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8625" y="2781300"/>
            <a:ext cx="5019675" cy="7077075"/>
          </a:xfrm>
          <a:custGeom>
            <a:avLst/>
            <a:gdLst/>
            <a:ahLst/>
            <a:cxnLst/>
            <a:rect l="l" t="t" r="r" b="b"/>
            <a:pathLst>
              <a:path w="5019675" h="7077075">
                <a:moveTo>
                  <a:pt x="0" y="0"/>
                </a:moveTo>
                <a:lnTo>
                  <a:pt x="5019675" y="0"/>
                </a:lnTo>
                <a:lnTo>
                  <a:pt x="501967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775" y="32099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50976" y="4532207"/>
            <a:ext cx="2322576" cy="38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835" b="1">
                <a:solidFill>
                  <a:srgbClr val="6A9A9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What We Built</a:t>
            </a:r>
            <a:endParaRPr lang="en-US" sz="2835" b="1">
              <a:solidFill>
                <a:srgbClr val="6A9A9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0976" y="5196650"/>
            <a:ext cx="384048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23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Fully functional local services marketplace prototype</a:t>
            </a:r>
            <a:endParaRPr lang="en-US" sz="223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0976" y="6112193"/>
            <a:ext cx="2907792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195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Unified product/service and order architecture</a:t>
            </a:r>
            <a:endParaRPr lang="en-US" sz="2195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0976" y="7046786"/>
            <a:ext cx="398678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216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Role-based workflows for customers, vendors, and admins</a:t>
            </a:r>
            <a:endParaRPr lang="en-US" sz="216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0976" y="7994713"/>
            <a:ext cx="276148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23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Secure authentication and validation</a:t>
            </a:r>
            <a:endParaRPr lang="en-US" sz="223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50976" y="8993505"/>
            <a:ext cx="29077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216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Live, tested deployment</a:t>
            </a:r>
            <a:endParaRPr lang="en-US" sz="216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5219700" y="2781300"/>
            <a:ext cx="5019675" cy="7077075"/>
          </a:xfrm>
          <a:custGeom>
            <a:avLst/>
            <a:gdLst/>
            <a:ahLst/>
            <a:cxnLst/>
            <a:rect l="l" t="t" r="r" b="b"/>
            <a:pathLst>
              <a:path w="5019675" h="7077075">
                <a:moveTo>
                  <a:pt x="0" y="0"/>
                </a:moveTo>
                <a:lnTo>
                  <a:pt x="5019675" y="0"/>
                </a:lnTo>
                <a:lnTo>
                  <a:pt x="5019675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657850" y="320992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870448" y="4532207"/>
            <a:ext cx="1993392" cy="38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835" b="1">
                <a:solidFill>
                  <a:srgbClr val="2E2E2E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What’s Next</a:t>
            </a:r>
            <a:endParaRPr lang="en-US" sz="2835" b="1">
              <a:solidFill>
                <a:srgbClr val="2E2E2E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870448" y="5373243"/>
            <a:ext cx="340156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15">
                <a:solidFill>
                  <a:srgbClr val="2E2E2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Pagination for large data sets</a:t>
            </a:r>
            <a:endParaRPr lang="en-US" sz="2015">
              <a:solidFill>
                <a:srgbClr val="2E2E2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70448" y="6093333"/>
            <a:ext cx="316382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15">
                <a:solidFill>
                  <a:srgbClr val="2E2E2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Address book management</a:t>
            </a:r>
            <a:endParaRPr lang="en-US" sz="2015">
              <a:solidFill>
                <a:srgbClr val="2E2E2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870448" y="6813423"/>
            <a:ext cx="378561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15">
                <a:solidFill>
                  <a:srgbClr val="2E2E2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Full payment gateway integration</a:t>
            </a:r>
            <a:endParaRPr lang="en-US" sz="2015">
              <a:solidFill>
                <a:srgbClr val="2E2E2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870448" y="7554087"/>
            <a:ext cx="2688336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15">
                <a:solidFill>
                  <a:srgbClr val="2E2E2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Offering image uploads</a:t>
            </a:r>
            <a:endParaRPr lang="en-US" sz="2015">
              <a:solidFill>
                <a:srgbClr val="2E2E2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870448" y="8335899"/>
            <a:ext cx="224942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15">
                <a:solidFill>
                  <a:srgbClr val="2E2E2E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Notification system</a:t>
            </a:r>
            <a:endParaRPr lang="en-US" sz="2015">
              <a:solidFill>
                <a:srgbClr val="2E2E2E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0229850" y="0"/>
            <a:ext cx="8058150" cy="10287000"/>
          </a:xfrm>
          <a:custGeom>
            <a:avLst/>
            <a:gdLst/>
            <a:ahLst/>
            <a:cxnLst/>
            <a:rect l="l" t="t" r="r" b="b"/>
            <a:pathLst>
              <a:path w="8058150" h="10287000">
                <a:moveTo>
                  <a:pt x="0" y="0"/>
                </a:moveTo>
                <a:lnTo>
                  <a:pt x="8058150" y="0"/>
                </a:lnTo>
                <a:lnTo>
                  <a:pt x="8058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198096" y="4981256"/>
            <a:ext cx="2450592" cy="148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5740" b="1">
                <a:solidFill>
                  <a:srgbClr val="D9E0E4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THANK</a:t>
            </a:r>
            <a:endParaRPr lang="en-US" sz="5740" b="1">
              <a:solidFill>
                <a:srgbClr val="D9E0E4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ctr">
              <a:lnSpc>
                <a:spcPts val="5740"/>
              </a:lnSpc>
            </a:pPr>
            <a:r>
              <a:rPr lang="en-US" sz="5740" b="1">
                <a:solidFill>
                  <a:srgbClr val="D9E0E4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YOU</a:t>
            </a:r>
            <a:endParaRPr lang="en-US" sz="5740" b="1">
              <a:solidFill>
                <a:srgbClr val="D9E0E4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2192000" y="663892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 rot="-140400">
            <a:off x="12399474" y="7143734"/>
            <a:ext cx="2414016" cy="39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940" b="1">
                <a:solidFill>
                  <a:srgbClr val="D9E0E4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Team Cyphers</a:t>
            </a:r>
            <a:endParaRPr lang="en-US" sz="2940" b="1">
              <a:solidFill>
                <a:srgbClr val="D9E0E4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3949</Words>
  <Application>WPS Presentation</Application>
  <PresentationFormat>On-screen Show (4:3)</PresentationFormat>
  <Paragraphs>312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Roboto Bold</vt:lpstr>
      <vt:lpstr>Roboto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Ruhanika</cp:lastModifiedBy>
  <cp:revision>5</cp:revision>
  <dcterms:created xsi:type="dcterms:W3CDTF">2006-08-16T00:00:00Z</dcterms:created>
  <dcterms:modified xsi:type="dcterms:W3CDTF">2026-09-07T11:46:12Z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FC63545C2BBE4E48898639BCB7ABD5E2_12</vt:lpwstr>
  </property>
  <property fmtid="{D5CDD505-2E9C-101B-9397-08002B2CF9AE}" pid="3" name="KSOProductBuildVer">
    <vt:lpwstr>2057-12.2.0.23206</vt:lpwstr>
  </property>
</Properties>
</file>